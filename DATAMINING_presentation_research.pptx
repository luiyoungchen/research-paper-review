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59" r:id="rId10"/>
    <p:sldId id="264" r:id="rId11"/>
  </p:sldIdLst>
  <p:sldSz cx="14630400" cy="8229600"/>
  <p:notesSz cx="8229600" cy="14630400"/>
  <p:embeddedFontLst>
    <p:embeddedFont>
      <p:font typeface="Bahnschrift" panose="020B0502040204020203" pitchFamily="34" charset="0"/>
      <p:regular r:id="rId13"/>
      <p:bold r:id="rId14"/>
    </p:embeddedFont>
    <p:embeddedFont>
      <p:font typeface="Corbel" panose="020B0503020204020204" pitchFamily="34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Roboto Slab" pitchFamily="2" charset="0"/>
      <p:regular r:id="rId23"/>
      <p:bold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72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7180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77368" y="292609"/>
            <a:ext cx="14069568" cy="7653527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976" y="1058851"/>
            <a:ext cx="11960352" cy="3511296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864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1436" y="4643561"/>
            <a:ext cx="10521432" cy="1665798"/>
          </a:xfrm>
        </p:spPr>
        <p:txBody>
          <a:bodyPr>
            <a:normAutofit/>
          </a:bodyPr>
          <a:lstStyle>
            <a:lvl1pPr marL="0" indent="0" algn="ctr">
              <a:buNone/>
              <a:defRPr sz="2640">
                <a:solidFill>
                  <a:srgbClr val="FFFFFF"/>
                </a:solidFill>
              </a:defRPr>
            </a:lvl1pPr>
            <a:lvl2pPr marL="548640" indent="0" algn="ctr">
              <a:buNone/>
              <a:defRPr sz="2640"/>
            </a:lvl2pPr>
            <a:lvl3pPr marL="1097280" indent="0" algn="ctr">
              <a:buNone/>
              <a:defRPr sz="2640"/>
            </a:lvl3pPr>
            <a:lvl4pPr marL="1645920" indent="0" algn="ctr">
              <a:buNone/>
              <a:defRPr sz="2400"/>
            </a:lvl4pPr>
            <a:lvl5pPr marL="2194560" indent="0" algn="ctr">
              <a:buNone/>
              <a:defRPr sz="2400"/>
            </a:lvl5pPr>
            <a:lvl6pPr marL="2743200" indent="0" algn="ctr">
              <a:buNone/>
              <a:defRPr sz="2400"/>
            </a:lvl6pPr>
            <a:lvl7pPr marL="3291840" indent="0" algn="ctr">
              <a:buNone/>
              <a:defRPr sz="2400"/>
            </a:lvl7pPr>
            <a:lvl8pPr marL="3840480" indent="0" algn="ctr">
              <a:buNone/>
              <a:defRPr sz="2400"/>
            </a:lvl8pPr>
            <a:lvl9pPr marL="438912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374393" y="4480560"/>
            <a:ext cx="987552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65087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3685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7709" y="1408290"/>
            <a:ext cx="11960352" cy="3511296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864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1914" y="4985424"/>
            <a:ext cx="10522915" cy="1636567"/>
          </a:xfrm>
        </p:spPr>
        <p:txBody>
          <a:bodyPr anchor="t">
            <a:normAutofit/>
          </a:bodyPr>
          <a:lstStyle>
            <a:lvl1pPr marL="0" indent="0" algn="ctr">
              <a:buNone/>
              <a:defRPr sz="2640">
                <a:solidFill>
                  <a:schemeClr val="accent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2377441" y="4824490"/>
            <a:ext cx="987552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51881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468879"/>
            <a:ext cx="5705856" cy="4828032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21134" y="2468880"/>
            <a:ext cx="5705856" cy="4828032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709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401813"/>
            <a:ext cx="5705856" cy="93268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265780"/>
            <a:ext cx="5705856" cy="4059936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23008" y="2398838"/>
            <a:ext cx="5705856" cy="932688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23008" y="3263186"/>
            <a:ext cx="5705856" cy="4059936"/>
          </a:xfrm>
        </p:spPr>
        <p:txBody>
          <a:bodyPr/>
          <a:lstStyle>
            <a:lvl1pPr>
              <a:defRPr sz="2640"/>
            </a:lvl1pPr>
            <a:lvl2pPr>
              <a:defRPr sz="2400"/>
            </a:lvl2pPr>
            <a:lvl3pPr>
              <a:defRPr sz="2160"/>
            </a:lvl3pPr>
            <a:lvl4pPr>
              <a:defRPr sz="1920"/>
            </a:lvl4pPr>
            <a:lvl5pPr>
              <a:defRPr sz="1920"/>
            </a:lvl5pPr>
            <a:lvl6pPr>
              <a:defRPr sz="1920"/>
            </a:lvl6pPr>
            <a:lvl7pPr>
              <a:defRPr sz="1920"/>
            </a:lvl7pPr>
            <a:lvl8pPr>
              <a:defRPr sz="1920"/>
            </a:lvl8pPr>
            <a:lvl9pPr>
              <a:defRPr sz="19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3484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82557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86805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16736"/>
            <a:ext cx="4718304" cy="20848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22591" y="1316736"/>
            <a:ext cx="6254496" cy="5596128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3401568"/>
            <a:ext cx="4718304" cy="36210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20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102277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316736"/>
            <a:ext cx="4718304" cy="2084832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95897" y="1283816"/>
            <a:ext cx="7318858" cy="576072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336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71600" y="3401568"/>
            <a:ext cx="4718304" cy="345643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200"/>
              </a:spcBef>
              <a:buNone/>
              <a:defRPr sz="20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22082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5933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914400"/>
            <a:ext cx="2788920" cy="649224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914400"/>
            <a:ext cx="8915400" cy="64922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3686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996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976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256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8713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4769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57556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93772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4251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05473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450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77368" y="292609"/>
            <a:ext cx="14069568" cy="765352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731520"/>
            <a:ext cx="11850624" cy="16276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1" y="2468880"/>
            <a:ext cx="11847445" cy="4846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595" y="7468594"/>
            <a:ext cx="279488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accent1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38978" y="7468594"/>
            <a:ext cx="566132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95437" y="7468594"/>
            <a:ext cx="20474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431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74320" indent="-219456" algn="l" defTabSz="1097280" rtl="0" eaLnBrk="1" latinLnBrk="0" hangingPunct="1">
        <a:lnSpc>
          <a:spcPct val="90000"/>
        </a:lnSpc>
        <a:spcBef>
          <a:spcPts val="1680"/>
        </a:spcBef>
        <a:buClr>
          <a:schemeClr val="accent1"/>
        </a:buClr>
        <a:buSzPct val="80000"/>
        <a:buFont typeface="Corbel" pitchFamily="34" charset="0"/>
        <a:buChar char="•"/>
        <a:defRPr sz="264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48640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877824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216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207008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536192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92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28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64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8pPr>
      <a:lvl9pPr marL="300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SzPct val="80000"/>
        <a:buFont typeface="Corbel" pitchFamily="34" charset="0"/>
        <a:buChar char="•"/>
        <a:defRPr sz="192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svg"/><Relationship Id="rId9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766853"/>
            <a:ext cx="7556421" cy="25673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 Association rule-base approach for frequent item mining of multistage access data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471155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efficient method for mining frequent patterns in multi-stage access data using improved Apriori algorithms with weighted support functions</a:t>
            </a:r>
            <a:endParaRPr lang="en-US" sz="15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033617-F3C8-D3EC-6A3D-6F8E193B1053}"/>
              </a:ext>
            </a:extLst>
          </p:cNvPr>
          <p:cNvSpPr txBox="1"/>
          <p:nvPr/>
        </p:nvSpPr>
        <p:spPr>
          <a:xfrm>
            <a:off x="724826" y="5750216"/>
            <a:ext cx="5826445" cy="15927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950" b="1" dirty="0">
                <a:latin typeface="Bahnschrift" panose="020B0502040204020203" pitchFamily="34" charset="0"/>
              </a:rPr>
              <a:t>Submitted by:</a:t>
            </a:r>
          </a:p>
          <a:p>
            <a:endParaRPr lang="en-US" sz="1950" b="1" dirty="0"/>
          </a:p>
          <a:p>
            <a:r>
              <a:rPr lang="en-US" sz="1950" b="1" i="1" dirty="0"/>
              <a:t>Ph Angamba Singha</a:t>
            </a:r>
            <a:r>
              <a:rPr lang="en-IN" sz="1950" b="1" dirty="0"/>
              <a:t> 	ADTU/2022-26/BCS/053</a:t>
            </a:r>
          </a:p>
          <a:p>
            <a:r>
              <a:rPr lang="en-US" sz="1950" b="1" i="1" dirty="0" err="1"/>
              <a:t>Ksh</a:t>
            </a:r>
            <a:r>
              <a:rPr lang="en-US" sz="1950" b="1" i="1" dirty="0"/>
              <a:t> Sandip Singha</a:t>
            </a:r>
            <a:r>
              <a:rPr lang="en-IN" sz="1950" b="1" i="1" dirty="0"/>
              <a:t> </a:t>
            </a:r>
            <a:r>
              <a:rPr lang="en-IN" sz="1950" b="1" dirty="0"/>
              <a:t>	ADTU/2022-26/BCS/028</a:t>
            </a:r>
          </a:p>
          <a:p>
            <a:r>
              <a:rPr lang="en-US" sz="1950" b="1" i="1" dirty="0"/>
              <a:t>Mamoni Sheikh  </a:t>
            </a:r>
            <a:r>
              <a:rPr lang="en-IN" sz="1950" b="1" dirty="0"/>
              <a:t>		ADTU/2022-26/BCS/068</a:t>
            </a:r>
            <a:endParaRPr lang="en-US" sz="1950" b="1" dirty="0"/>
          </a:p>
        </p:txBody>
      </p:sp>
      <p:pic>
        <p:nvPicPr>
          <p:cNvPr id="7" name="Picture 2" descr="Facilities | Assam down town University">
            <a:extLst>
              <a:ext uri="{FF2B5EF4-FFF2-40B4-BE49-F238E27FC236}">
                <a16:creationId xmlns:a16="http://schemas.microsoft.com/office/drawing/2014/main" id="{8878D939-950B-7E54-F53F-212A5FADE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2751" y="7580649"/>
            <a:ext cx="1737938" cy="57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6">
            <a:extLst>
              <a:ext uri="{FF2B5EF4-FFF2-40B4-BE49-F238E27FC236}">
                <a16:creationId xmlns:a16="http://schemas.microsoft.com/office/drawing/2014/main" id="{6A728B2B-48AA-7AC8-3F45-4981B1B80019}"/>
              </a:ext>
            </a:extLst>
          </p:cNvPr>
          <p:cNvSpPr/>
          <p:nvPr/>
        </p:nvSpPr>
        <p:spPr>
          <a:xfrm>
            <a:off x="4336998" y="3235736"/>
            <a:ext cx="5029200" cy="411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A18B1E1-085D-359E-7586-02CFB406E954}"/>
              </a:ext>
            </a:extLst>
          </p:cNvPr>
          <p:cNvSpPr/>
          <p:nvPr/>
        </p:nvSpPr>
        <p:spPr>
          <a:xfrm rot="5400000" flipV="1">
            <a:off x="6668283" y="2616072"/>
            <a:ext cx="3627480" cy="45719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6FE19-5630-B22D-F155-0F756D52AC36}"/>
              </a:ext>
            </a:extLst>
          </p:cNvPr>
          <p:cNvSpPr txBox="1"/>
          <p:nvPr/>
        </p:nvSpPr>
        <p:spPr>
          <a:xfrm>
            <a:off x="8526966" y="1419405"/>
            <a:ext cx="4721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Source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Discover Computing, Vol. 28, Article 139 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36B9F4-739A-EC0E-1B7A-0B8BE44F1E4A}"/>
              </a:ext>
            </a:extLst>
          </p:cNvPr>
          <p:cNvSpPr txBox="1"/>
          <p:nvPr/>
        </p:nvSpPr>
        <p:spPr>
          <a:xfrm>
            <a:off x="8526966" y="878420"/>
            <a:ext cx="205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Author:</a:t>
            </a:r>
            <a:r>
              <a:rPr lang="en-US" b="1" dirty="0"/>
              <a:t> 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</a:rPr>
              <a:t>Silong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Wu 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55DC9E-CA98-B2B2-8839-D1C22BE73FF4}"/>
              </a:ext>
            </a:extLst>
          </p:cNvPr>
          <p:cNvSpPr txBox="1"/>
          <p:nvPr/>
        </p:nvSpPr>
        <p:spPr>
          <a:xfrm>
            <a:off x="8545552" y="1957672"/>
            <a:ext cx="2051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Year: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2025</a:t>
            </a:r>
            <a:endParaRPr lang="en-IN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767714-9DE4-0080-AD75-8FD5E0C1599F}"/>
              </a:ext>
            </a:extLst>
          </p:cNvPr>
          <p:cNvSpPr txBox="1"/>
          <p:nvPr/>
        </p:nvSpPr>
        <p:spPr>
          <a:xfrm>
            <a:off x="8681013" y="3476973"/>
            <a:ext cx="55539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2060"/>
                </a:solidFill>
              </a:rPr>
              <a:t>Financial Shared Service Center, Guangdong Power Grid Corporation, Guangzhou, China</a:t>
            </a:r>
            <a:endParaRPr lang="en-US" dirty="0">
              <a:solidFill>
                <a:srgbClr val="002060"/>
              </a:solidFill>
            </a:endParaRPr>
          </a:p>
          <a:p>
            <a:endParaRPr lang="en-IN" dirty="0"/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FC809053-4A68-D8EB-D0BB-5ED7F62BF123}"/>
              </a:ext>
            </a:extLst>
          </p:cNvPr>
          <p:cNvSpPr/>
          <p:nvPr/>
        </p:nvSpPr>
        <p:spPr>
          <a:xfrm>
            <a:off x="791994" y="231389"/>
            <a:ext cx="3837880" cy="398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56E8A"/>
                </a:solidFill>
              </a:rPr>
              <a:t>Course: Data Mining  |  Research Paper Review</a:t>
            </a:r>
            <a:endParaRPr lang="en-US" sz="1400" dirty="0"/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891DFECE-A7E9-35C9-79AC-6593827A4507}"/>
              </a:ext>
            </a:extLst>
          </p:cNvPr>
          <p:cNvSpPr/>
          <p:nvPr/>
        </p:nvSpPr>
        <p:spPr>
          <a:xfrm>
            <a:off x="10147161" y="221650"/>
            <a:ext cx="4091012" cy="41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556E8A"/>
                </a:solidFill>
              </a:rPr>
              <a:t>DOI: 10.1007/s10791-025-09644-9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6BCB8C2-764D-18CD-6C13-B3C16F42D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4551" y="4722052"/>
            <a:ext cx="2972058" cy="2629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0" y="1521381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Challenge of Traditional Apriori Algorithms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257550"/>
            <a:ext cx="28648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Multiple Database Scans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6280190" y="3766066"/>
            <a:ext cx="35361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Apriori algorithms require multiple scans of the database to generate candidate itemsets, significantly reducing efficiency when processing large-scale datasets.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308074" y="3257550"/>
            <a:ext cx="30249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Fixed Support Thresholds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308074" y="3766066"/>
            <a:ext cx="35361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 support threshold settings fail to consider the importance and differences of different itemsets in practical business applications, affecting mining accuracy.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280190" y="5755600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limitations become particularly problematic when dealing with multi-stage access data in e-commerce, social networks, and financial systems where efficiency and accuracy are critical.</a:t>
            </a:r>
            <a:endParaRPr lang="en-US" sz="1550" dirty="0"/>
          </a:p>
        </p:txBody>
      </p:sp>
      <p:pic>
        <p:nvPicPr>
          <p:cNvPr id="10" name="Picture 2" descr="Facilities | Assam down town University">
            <a:extLst>
              <a:ext uri="{FF2B5EF4-FFF2-40B4-BE49-F238E27FC236}">
                <a16:creationId xmlns:a16="http://schemas.microsoft.com/office/drawing/2014/main" id="{98CF9FFF-CF7A-C033-91D3-080557EE6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2751" y="7580649"/>
            <a:ext cx="1737938" cy="57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1859B6-EC1A-AA74-CC04-2336593B9FD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170" y="1931481"/>
            <a:ext cx="5182049" cy="4366638"/>
          </a:xfrm>
          <a:prstGeom prst="rect">
            <a:avLst/>
          </a:prstGeom>
          <a:effectLst>
            <a:outerShdw blurRad="50800" dist="50800" dir="5400000" sx="1000" sy="1000" algn="ctr" rotWithShape="0">
              <a:srgbClr val="000000"/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1070"/>
            <a:ext cx="1271837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Our Solution: Improved Apriori with Weighted Support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907983"/>
            <a:ext cx="4215289" cy="2572226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3106341"/>
            <a:ext cx="595313" cy="59531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5859" y="3269933"/>
            <a:ext cx="267891" cy="26789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92148" y="3900011"/>
            <a:ext cx="24866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Single Database Scan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992148" y="432923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Matrix compression through clustering reduces multi-stage database access to one scan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5207437" y="2907983"/>
            <a:ext cx="4215408" cy="2572226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5795" y="3106341"/>
            <a:ext cx="595313" cy="595313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569506" y="3269933"/>
            <a:ext cx="267891" cy="2678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05795" y="3900011"/>
            <a:ext cx="292274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 Candidate Generation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5405795" y="4329232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Frequent itemsets generated directly without intermediate candidates</a:t>
            </a:r>
            <a:endParaRPr lang="en-US" sz="1550" dirty="0"/>
          </a:p>
        </p:txBody>
      </p:sp>
      <p:sp>
        <p:nvSpPr>
          <p:cNvPr id="13" name="Shape 7"/>
          <p:cNvSpPr/>
          <p:nvPr/>
        </p:nvSpPr>
        <p:spPr>
          <a:xfrm>
            <a:off x="9621203" y="2907983"/>
            <a:ext cx="4215289" cy="2572226"/>
          </a:xfrm>
          <a:prstGeom prst="roundRect">
            <a:avLst>
              <a:gd name="adj" fmla="val 1157"/>
            </a:avLst>
          </a:prstGeom>
          <a:solidFill>
            <a:srgbClr val="E9ECF2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19561" y="3106341"/>
            <a:ext cx="595313" cy="595313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983272" y="3269933"/>
            <a:ext cx="267891" cy="26789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19561" y="3900011"/>
            <a:ext cx="322123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Weighted Support Function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9819561" y="4329232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Different weights assigned to itemsets reflect real-world importance</a:t>
            </a:r>
            <a:endParaRPr lang="en-US" sz="1550" dirty="0"/>
          </a:p>
        </p:txBody>
      </p:sp>
      <p:sp>
        <p:nvSpPr>
          <p:cNvPr id="18" name="Text 10"/>
          <p:cNvSpPr/>
          <p:nvPr/>
        </p:nvSpPr>
        <p:spPr>
          <a:xfrm>
            <a:off x="793790" y="570345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applying clustering analysis and Boolean vector operations, our method achieves significant efficiency improvements while maintaining high accuracy through weighted support calculations.</a:t>
            </a:r>
            <a:endParaRPr lang="en-US" sz="1550" dirty="0"/>
          </a:p>
        </p:txBody>
      </p:sp>
      <p:pic>
        <p:nvPicPr>
          <p:cNvPr id="19" name="Picture 2" descr="Facilities | Assam down town University">
            <a:extLst>
              <a:ext uri="{FF2B5EF4-FFF2-40B4-BE49-F238E27FC236}">
                <a16:creationId xmlns:a16="http://schemas.microsoft.com/office/drawing/2014/main" id="{3D2572FA-2E4F-794D-B431-8D28CB230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2751" y="7580649"/>
            <a:ext cx="1737938" cy="57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Facilities | Assam down town University">
            <a:extLst>
              <a:ext uri="{FF2B5EF4-FFF2-40B4-BE49-F238E27FC236}">
                <a16:creationId xmlns:a16="http://schemas.microsoft.com/office/drawing/2014/main" id="{05F789B1-8561-CFBF-8869-2DFFD56AF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2751" y="7580649"/>
            <a:ext cx="1737938" cy="57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0FF451-1DE1-9884-79F2-CEA58E6F07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102" y="1459866"/>
            <a:ext cx="9405523" cy="497482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82B7E56-2A95-0439-5A04-5C8D56D89F61}"/>
              </a:ext>
            </a:extLst>
          </p:cNvPr>
          <p:cNvSpPr txBox="1"/>
          <p:nvPr/>
        </p:nvSpPr>
        <p:spPr>
          <a:xfrm>
            <a:off x="1059365" y="769821"/>
            <a:ext cx="8920976" cy="683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6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Architecture High level Diagram(HLD)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93790" y="483042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Algorithm Workflow</a:t>
            </a:r>
            <a:endParaRPr lang="en-US" sz="3900" dirty="0"/>
          </a:p>
        </p:txBody>
      </p:sp>
      <p:pic>
        <p:nvPicPr>
          <p:cNvPr id="14" name="Picture 2" descr="Facilities | Assam down town University">
            <a:extLst>
              <a:ext uri="{FF2B5EF4-FFF2-40B4-BE49-F238E27FC236}">
                <a16:creationId xmlns:a16="http://schemas.microsoft.com/office/drawing/2014/main" id="{846C0685-629E-7B19-4A1F-90C7D9C99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2751" y="7580649"/>
            <a:ext cx="1737938" cy="57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hape 4">
            <a:extLst>
              <a:ext uri="{FF2B5EF4-FFF2-40B4-BE49-F238E27FC236}">
                <a16:creationId xmlns:a16="http://schemas.microsoft.com/office/drawing/2014/main" id="{F41C37D6-1D18-65A9-AF6E-6DC6AC797D41}"/>
              </a:ext>
            </a:extLst>
          </p:cNvPr>
          <p:cNvSpPr/>
          <p:nvPr/>
        </p:nvSpPr>
        <p:spPr>
          <a:xfrm>
            <a:off x="455756" y="1672237"/>
            <a:ext cx="2401722" cy="4460934"/>
          </a:xfrm>
          <a:prstGeom prst="rect">
            <a:avLst/>
          </a:prstGeom>
          <a:solidFill>
            <a:srgbClr val="FFFFFF"/>
          </a:solidFill>
          <a:ln w="12700">
            <a:solidFill>
              <a:srgbClr val="BA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">
            <a:extLst>
              <a:ext uri="{FF2B5EF4-FFF2-40B4-BE49-F238E27FC236}">
                <a16:creationId xmlns:a16="http://schemas.microsoft.com/office/drawing/2014/main" id="{D10B2E8A-1B73-7632-3234-D92F5C1C7752}"/>
              </a:ext>
            </a:extLst>
          </p:cNvPr>
          <p:cNvSpPr/>
          <p:nvPr/>
        </p:nvSpPr>
        <p:spPr>
          <a:xfrm>
            <a:off x="3238410" y="1672237"/>
            <a:ext cx="2401722" cy="4460934"/>
          </a:xfrm>
          <a:prstGeom prst="rect">
            <a:avLst/>
          </a:prstGeom>
          <a:solidFill>
            <a:srgbClr val="FFFFFF"/>
          </a:solidFill>
          <a:ln w="12700">
            <a:solidFill>
              <a:srgbClr val="BA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">
            <a:extLst>
              <a:ext uri="{FF2B5EF4-FFF2-40B4-BE49-F238E27FC236}">
                <a16:creationId xmlns:a16="http://schemas.microsoft.com/office/drawing/2014/main" id="{95127C89-E795-8703-E485-13A275C6B9B4}"/>
              </a:ext>
            </a:extLst>
          </p:cNvPr>
          <p:cNvSpPr/>
          <p:nvPr/>
        </p:nvSpPr>
        <p:spPr>
          <a:xfrm>
            <a:off x="6021064" y="1672237"/>
            <a:ext cx="2401722" cy="4460934"/>
          </a:xfrm>
          <a:prstGeom prst="rect">
            <a:avLst/>
          </a:prstGeom>
          <a:solidFill>
            <a:srgbClr val="FFFFFF"/>
          </a:solidFill>
          <a:ln w="12700">
            <a:solidFill>
              <a:srgbClr val="BA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49" name="Shape 4">
            <a:extLst>
              <a:ext uri="{FF2B5EF4-FFF2-40B4-BE49-F238E27FC236}">
                <a16:creationId xmlns:a16="http://schemas.microsoft.com/office/drawing/2014/main" id="{9EB9D048-7899-F679-FFCB-75AEE111F326}"/>
              </a:ext>
            </a:extLst>
          </p:cNvPr>
          <p:cNvSpPr/>
          <p:nvPr/>
        </p:nvSpPr>
        <p:spPr>
          <a:xfrm>
            <a:off x="11611890" y="1672237"/>
            <a:ext cx="2401722" cy="4460934"/>
          </a:xfrm>
          <a:prstGeom prst="rect">
            <a:avLst/>
          </a:prstGeom>
          <a:solidFill>
            <a:srgbClr val="FFFFFF"/>
          </a:solidFill>
          <a:ln w="12700">
            <a:solidFill>
              <a:srgbClr val="BA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">
            <a:extLst>
              <a:ext uri="{FF2B5EF4-FFF2-40B4-BE49-F238E27FC236}">
                <a16:creationId xmlns:a16="http://schemas.microsoft.com/office/drawing/2014/main" id="{F9C70E90-B0F8-E4B4-C8BF-B008D383F085}"/>
              </a:ext>
            </a:extLst>
          </p:cNvPr>
          <p:cNvSpPr/>
          <p:nvPr/>
        </p:nvSpPr>
        <p:spPr>
          <a:xfrm>
            <a:off x="8803718" y="1672237"/>
            <a:ext cx="2401722" cy="4460934"/>
          </a:xfrm>
          <a:prstGeom prst="rect">
            <a:avLst/>
          </a:prstGeom>
          <a:solidFill>
            <a:srgbClr val="FFFFFF"/>
          </a:solidFill>
          <a:ln w="12700">
            <a:solidFill>
              <a:srgbClr val="BADC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1" name="Shape 5">
            <a:extLst>
              <a:ext uri="{FF2B5EF4-FFF2-40B4-BE49-F238E27FC236}">
                <a16:creationId xmlns:a16="http://schemas.microsoft.com/office/drawing/2014/main" id="{025DA853-9C5A-23DA-1051-30DE03344197}"/>
              </a:ext>
            </a:extLst>
          </p:cNvPr>
          <p:cNvSpPr/>
          <p:nvPr/>
        </p:nvSpPr>
        <p:spPr>
          <a:xfrm>
            <a:off x="455756" y="1672237"/>
            <a:ext cx="2401722" cy="959451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0" name="Shape 12">
            <a:extLst>
              <a:ext uri="{FF2B5EF4-FFF2-40B4-BE49-F238E27FC236}">
                <a16:creationId xmlns:a16="http://schemas.microsoft.com/office/drawing/2014/main" id="{E1E5679B-4041-2BC0-A643-5D4D5FC7CE31}"/>
              </a:ext>
            </a:extLst>
          </p:cNvPr>
          <p:cNvSpPr/>
          <p:nvPr/>
        </p:nvSpPr>
        <p:spPr>
          <a:xfrm>
            <a:off x="3238410" y="1672237"/>
            <a:ext cx="2401722" cy="959451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61" name="Shape 19">
            <a:extLst>
              <a:ext uri="{FF2B5EF4-FFF2-40B4-BE49-F238E27FC236}">
                <a16:creationId xmlns:a16="http://schemas.microsoft.com/office/drawing/2014/main" id="{57A45841-F02B-121E-A64C-5B8D9166E0DF}"/>
              </a:ext>
            </a:extLst>
          </p:cNvPr>
          <p:cNvSpPr/>
          <p:nvPr/>
        </p:nvSpPr>
        <p:spPr>
          <a:xfrm>
            <a:off x="8803716" y="1672237"/>
            <a:ext cx="2401723" cy="959451"/>
          </a:xfrm>
          <a:prstGeom prst="rect">
            <a:avLst/>
          </a:prstGeom>
          <a:solidFill>
            <a:srgbClr val="8B3A8B"/>
          </a:solidFill>
          <a:ln w="12700">
            <a:solidFill>
              <a:srgbClr val="8B3A8B"/>
            </a:solidFill>
            <a:prstDash val="solid"/>
          </a:ln>
        </p:spPr>
      </p:sp>
      <p:sp>
        <p:nvSpPr>
          <p:cNvPr id="63" name="Shape 26">
            <a:extLst>
              <a:ext uri="{FF2B5EF4-FFF2-40B4-BE49-F238E27FC236}">
                <a16:creationId xmlns:a16="http://schemas.microsoft.com/office/drawing/2014/main" id="{D481219E-C4E7-B79D-6A43-6A671CE5FF50}"/>
              </a:ext>
            </a:extLst>
          </p:cNvPr>
          <p:cNvSpPr/>
          <p:nvPr/>
        </p:nvSpPr>
        <p:spPr>
          <a:xfrm>
            <a:off x="6021064" y="1672237"/>
            <a:ext cx="2401722" cy="959451"/>
          </a:xfrm>
          <a:prstGeom prst="rect">
            <a:avLst/>
          </a:prstGeom>
          <a:solidFill>
            <a:srgbClr val="B85A00"/>
          </a:solidFill>
          <a:ln w="12700">
            <a:solidFill>
              <a:srgbClr val="B85A00"/>
            </a:solidFill>
            <a:prstDash val="solid"/>
          </a:ln>
        </p:spPr>
      </p:sp>
      <p:sp>
        <p:nvSpPr>
          <p:cNvPr id="64" name="Shape 33">
            <a:extLst>
              <a:ext uri="{FF2B5EF4-FFF2-40B4-BE49-F238E27FC236}">
                <a16:creationId xmlns:a16="http://schemas.microsoft.com/office/drawing/2014/main" id="{A539A3D1-6D1F-27F1-132F-5938CE249371}"/>
              </a:ext>
            </a:extLst>
          </p:cNvPr>
          <p:cNvSpPr/>
          <p:nvPr/>
        </p:nvSpPr>
        <p:spPr>
          <a:xfrm>
            <a:off x="11611890" y="1672237"/>
            <a:ext cx="2401721" cy="959451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66" name="Text 7">
            <a:extLst>
              <a:ext uri="{FF2B5EF4-FFF2-40B4-BE49-F238E27FC236}">
                <a16:creationId xmlns:a16="http://schemas.microsoft.com/office/drawing/2014/main" id="{5BAEC049-DB45-8826-DE39-6408B384F12E}"/>
              </a:ext>
            </a:extLst>
          </p:cNvPr>
          <p:cNvSpPr/>
          <p:nvPr/>
        </p:nvSpPr>
        <p:spPr>
          <a:xfrm>
            <a:off x="455756" y="2659000"/>
            <a:ext cx="2376204" cy="9594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Data Preprocessing</a:t>
            </a:r>
            <a:endParaRPr lang="en-US" dirty="0"/>
          </a:p>
        </p:txBody>
      </p:sp>
      <p:sp>
        <p:nvSpPr>
          <p:cNvPr id="67" name="Text 8">
            <a:extLst>
              <a:ext uri="{FF2B5EF4-FFF2-40B4-BE49-F238E27FC236}">
                <a16:creationId xmlns:a16="http://schemas.microsoft.com/office/drawing/2014/main" id="{A7762616-C62B-7885-2772-96766C1BAF2E}"/>
              </a:ext>
            </a:extLst>
          </p:cNvPr>
          <p:cNvSpPr/>
          <p:nvPr/>
        </p:nvSpPr>
        <p:spPr>
          <a:xfrm>
            <a:off x="455756" y="3345366"/>
            <a:ext cx="2401722" cy="207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6080"/>
                </a:solidFill>
              </a:rPr>
              <a:t>Scan DB → build vertical Boolean matrix R. Cluster identical transactions to compress matrix size.</a:t>
            </a:r>
            <a:endParaRPr lang="en-US" sz="1600" dirty="0"/>
          </a:p>
        </p:txBody>
      </p:sp>
      <p:sp>
        <p:nvSpPr>
          <p:cNvPr id="69" name="Text 7">
            <a:extLst>
              <a:ext uri="{FF2B5EF4-FFF2-40B4-BE49-F238E27FC236}">
                <a16:creationId xmlns:a16="http://schemas.microsoft.com/office/drawing/2014/main" id="{231B5D2A-6106-CF98-E9B2-A636A28A801F}"/>
              </a:ext>
            </a:extLst>
          </p:cNvPr>
          <p:cNvSpPr/>
          <p:nvPr/>
        </p:nvSpPr>
        <p:spPr>
          <a:xfrm>
            <a:off x="3256544" y="2657290"/>
            <a:ext cx="2376204" cy="9594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Weighted Support</a:t>
            </a:r>
            <a:endParaRPr lang="en-US" dirty="0"/>
          </a:p>
        </p:txBody>
      </p:sp>
      <p:sp>
        <p:nvSpPr>
          <p:cNvPr id="70" name="Text 7">
            <a:extLst>
              <a:ext uri="{FF2B5EF4-FFF2-40B4-BE49-F238E27FC236}">
                <a16:creationId xmlns:a16="http://schemas.microsoft.com/office/drawing/2014/main" id="{ACF6B54D-FAD7-9F16-3401-58E606ECB291}"/>
              </a:ext>
            </a:extLst>
          </p:cNvPr>
          <p:cNvSpPr/>
          <p:nvPr/>
        </p:nvSpPr>
        <p:spPr>
          <a:xfrm>
            <a:off x="6023829" y="2657291"/>
            <a:ext cx="2376204" cy="9594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K-Means Clustering</a:t>
            </a:r>
            <a:endParaRPr lang="en-US" dirty="0"/>
          </a:p>
        </p:txBody>
      </p:sp>
      <p:sp>
        <p:nvSpPr>
          <p:cNvPr id="71" name="Text 7">
            <a:extLst>
              <a:ext uri="{FF2B5EF4-FFF2-40B4-BE49-F238E27FC236}">
                <a16:creationId xmlns:a16="http://schemas.microsoft.com/office/drawing/2014/main" id="{2F3213B3-4B12-E55D-B9D0-82E482B1E158}"/>
              </a:ext>
            </a:extLst>
          </p:cNvPr>
          <p:cNvSpPr/>
          <p:nvPr/>
        </p:nvSpPr>
        <p:spPr>
          <a:xfrm>
            <a:off x="8816475" y="2659000"/>
            <a:ext cx="2376204" cy="9594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Frequent Item Generation</a:t>
            </a:r>
            <a:endParaRPr lang="en-US" dirty="0"/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EB959844-6E13-82ED-289E-38F86C79F97A}"/>
              </a:ext>
            </a:extLst>
          </p:cNvPr>
          <p:cNvSpPr/>
          <p:nvPr/>
        </p:nvSpPr>
        <p:spPr>
          <a:xfrm>
            <a:off x="11630976" y="2637767"/>
            <a:ext cx="2376204" cy="95945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0D1B2A"/>
                </a:solidFill>
              </a:rPr>
              <a:t>Association Rules</a:t>
            </a:r>
            <a:endParaRPr lang="en-US" dirty="0"/>
          </a:p>
        </p:txBody>
      </p:sp>
      <p:sp>
        <p:nvSpPr>
          <p:cNvPr id="73" name="Text 8">
            <a:extLst>
              <a:ext uri="{FF2B5EF4-FFF2-40B4-BE49-F238E27FC236}">
                <a16:creationId xmlns:a16="http://schemas.microsoft.com/office/drawing/2014/main" id="{FBE5A17E-4691-DF23-4FE5-75CA7591BD7F}"/>
              </a:ext>
            </a:extLst>
          </p:cNvPr>
          <p:cNvSpPr/>
          <p:nvPr/>
        </p:nvSpPr>
        <p:spPr>
          <a:xfrm>
            <a:off x="11608738" y="3372712"/>
            <a:ext cx="2401722" cy="207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4A6080"/>
                </a:solidFill>
              </a:rPr>
              <a:t>Mine rules X⇒Y where weighted confidence </a:t>
            </a:r>
            <a:r>
              <a:rPr lang="en-US" sz="1600" dirty="0" err="1">
                <a:solidFill>
                  <a:srgbClr val="4A6080"/>
                </a:solidFill>
              </a:rPr>
              <a:t>wC</a:t>
            </a:r>
            <a:r>
              <a:rPr lang="en-US" sz="1600" dirty="0">
                <a:solidFill>
                  <a:srgbClr val="4A6080"/>
                </a:solidFill>
              </a:rPr>
              <a:t> ≥ minimum threshold. Output strong association rules.</a:t>
            </a:r>
            <a:endParaRPr lang="en-US" sz="1600" dirty="0"/>
          </a:p>
        </p:txBody>
      </p:sp>
      <p:sp>
        <p:nvSpPr>
          <p:cNvPr id="74" name="Text 8">
            <a:extLst>
              <a:ext uri="{FF2B5EF4-FFF2-40B4-BE49-F238E27FC236}">
                <a16:creationId xmlns:a16="http://schemas.microsoft.com/office/drawing/2014/main" id="{2A8ABF43-4551-2B92-3FE8-0E0E1AB187A3}"/>
              </a:ext>
            </a:extLst>
          </p:cNvPr>
          <p:cNvSpPr/>
          <p:nvPr/>
        </p:nvSpPr>
        <p:spPr>
          <a:xfrm>
            <a:off x="8789415" y="3427169"/>
            <a:ext cx="2401722" cy="207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4A6080"/>
                </a:solidFill>
              </a:rPr>
              <a:t>Generate weighted frequent 1-, 2-, ... k-</a:t>
            </a:r>
            <a:r>
              <a:rPr lang="en-US" sz="1600" dirty="0" err="1">
                <a:solidFill>
                  <a:srgbClr val="4A6080"/>
                </a:solidFill>
              </a:rPr>
              <a:t>itemsets</a:t>
            </a:r>
            <a:r>
              <a:rPr lang="en-US" sz="1600" dirty="0">
                <a:solidFill>
                  <a:srgbClr val="4A6080"/>
                </a:solidFill>
              </a:rPr>
              <a:t> using Boolean AND on matrix rows. No candidate </a:t>
            </a:r>
            <a:r>
              <a:rPr lang="en-US" sz="1600" dirty="0" err="1">
                <a:solidFill>
                  <a:srgbClr val="4A6080"/>
                </a:solidFill>
              </a:rPr>
              <a:t>itemsets</a:t>
            </a:r>
            <a:r>
              <a:rPr lang="en-US" sz="1600" dirty="0">
                <a:solidFill>
                  <a:srgbClr val="4A6080"/>
                </a:solidFill>
              </a:rPr>
              <a:t>.</a:t>
            </a:r>
            <a:endParaRPr lang="en-US" sz="1600" dirty="0"/>
          </a:p>
        </p:txBody>
      </p:sp>
      <p:sp>
        <p:nvSpPr>
          <p:cNvPr id="75" name="Text 8">
            <a:extLst>
              <a:ext uri="{FF2B5EF4-FFF2-40B4-BE49-F238E27FC236}">
                <a16:creationId xmlns:a16="http://schemas.microsoft.com/office/drawing/2014/main" id="{77A3BD1C-AFE5-BCD6-F041-11B7ED89F39A}"/>
              </a:ext>
            </a:extLst>
          </p:cNvPr>
          <p:cNvSpPr/>
          <p:nvPr/>
        </p:nvSpPr>
        <p:spPr>
          <a:xfrm>
            <a:off x="6025847" y="3345366"/>
            <a:ext cx="2401722" cy="207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4A6080"/>
                </a:solidFill>
              </a:rPr>
              <a:t>Divide items into K clusters using distance g = 1/SC. Items near centroid may belong to multiple clusters.</a:t>
            </a:r>
            <a:endParaRPr lang="en-US" sz="16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A377CAA0-BB45-EA63-54F7-1729BB0E9ABE}"/>
              </a:ext>
            </a:extLst>
          </p:cNvPr>
          <p:cNvSpPr/>
          <p:nvPr/>
        </p:nvSpPr>
        <p:spPr>
          <a:xfrm>
            <a:off x="3235194" y="3343693"/>
            <a:ext cx="2401722" cy="207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/>
            <a:r>
              <a:rPr lang="en-US" sz="1600" dirty="0">
                <a:solidFill>
                  <a:srgbClr val="4A6080"/>
                </a:solidFill>
              </a:rPr>
              <a:t>Assign each item a weight wⱼ. Weighted support </a:t>
            </a:r>
            <a:r>
              <a:rPr lang="en-US" sz="1600" dirty="0" err="1">
                <a:solidFill>
                  <a:srgbClr val="4A6080"/>
                </a:solidFill>
              </a:rPr>
              <a:t>wS</a:t>
            </a:r>
            <a:r>
              <a:rPr lang="en-US" sz="1600" dirty="0">
                <a:solidFill>
                  <a:srgbClr val="4A6080"/>
                </a:solidFill>
              </a:rPr>
              <a:t>(X) = W(X) × S(X), where W(X) = max weight in itemset.</a:t>
            </a:r>
            <a:endParaRPr lang="en-US" sz="1600" dirty="0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AEBAE443-4248-E329-C98A-0C75DC9FE7C7}"/>
              </a:ext>
            </a:extLst>
          </p:cNvPr>
          <p:cNvSpPr/>
          <p:nvPr/>
        </p:nvSpPr>
        <p:spPr>
          <a:xfrm>
            <a:off x="2922889" y="3902704"/>
            <a:ext cx="245327" cy="2110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360042D0-CB84-1A48-D0A1-8FBE08743219}"/>
              </a:ext>
            </a:extLst>
          </p:cNvPr>
          <p:cNvSpPr/>
          <p:nvPr/>
        </p:nvSpPr>
        <p:spPr>
          <a:xfrm>
            <a:off x="5717673" y="3902704"/>
            <a:ext cx="245327" cy="2110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00C95DF5-1A3B-AD5D-E192-934123799EEC}"/>
              </a:ext>
            </a:extLst>
          </p:cNvPr>
          <p:cNvSpPr/>
          <p:nvPr/>
        </p:nvSpPr>
        <p:spPr>
          <a:xfrm>
            <a:off x="8514806" y="3891553"/>
            <a:ext cx="245327" cy="2110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DC0714DF-DE87-5152-352E-152D9AA5D8DD}"/>
              </a:ext>
            </a:extLst>
          </p:cNvPr>
          <p:cNvSpPr/>
          <p:nvPr/>
        </p:nvSpPr>
        <p:spPr>
          <a:xfrm>
            <a:off x="11282850" y="3824423"/>
            <a:ext cx="245327" cy="2110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C5ED0D1-9348-3F44-5429-55F5534DFDF4}"/>
              </a:ext>
            </a:extLst>
          </p:cNvPr>
          <p:cNvSpPr txBox="1"/>
          <p:nvPr/>
        </p:nvSpPr>
        <p:spPr>
          <a:xfrm>
            <a:off x="1382749" y="1761896"/>
            <a:ext cx="5352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1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7A07EA9A-D7B6-F11F-7A45-7317ABA83F7D}"/>
              </a:ext>
            </a:extLst>
          </p:cNvPr>
          <p:cNvSpPr txBox="1"/>
          <p:nvPr/>
        </p:nvSpPr>
        <p:spPr>
          <a:xfrm>
            <a:off x="12541969" y="1759624"/>
            <a:ext cx="5352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5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2858AA6-C87F-A02A-9840-FB914D69543B}"/>
              </a:ext>
            </a:extLst>
          </p:cNvPr>
          <p:cNvSpPr txBox="1"/>
          <p:nvPr/>
        </p:nvSpPr>
        <p:spPr>
          <a:xfrm>
            <a:off x="9783335" y="1750943"/>
            <a:ext cx="5352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4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FBCA2A0-67CE-873E-E5A9-DBD17BF351C6}"/>
              </a:ext>
            </a:extLst>
          </p:cNvPr>
          <p:cNvSpPr txBox="1"/>
          <p:nvPr/>
        </p:nvSpPr>
        <p:spPr>
          <a:xfrm>
            <a:off x="6954295" y="1773469"/>
            <a:ext cx="5352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3</a:t>
            </a:r>
            <a:endParaRPr lang="en-IN" sz="4000" dirty="0">
              <a:solidFill>
                <a:schemeClr val="bg1"/>
              </a:solidFill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B37FED5-2EFA-BC90-50D9-81F7AF0F7CC7}"/>
              </a:ext>
            </a:extLst>
          </p:cNvPr>
          <p:cNvSpPr txBox="1"/>
          <p:nvPr/>
        </p:nvSpPr>
        <p:spPr>
          <a:xfrm>
            <a:off x="4241671" y="1761896"/>
            <a:ext cx="5352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2</a:t>
            </a:r>
            <a:endParaRPr lang="en-IN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816092" y="67146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Experimental Setup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1072577" y="21890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072577" y="2697520"/>
            <a:ext cx="434018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Multi-stage access database from electronic library system (September 2010-August 2022) containing identity authentication, data request, transmission, and query stages.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72577" y="4146272"/>
            <a:ext cx="434018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15 e-books with highest access times selected for analysis. Statistical attributes included MAC number, title, publisher, publication date, and visit counts.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714920" y="2189004"/>
            <a:ext cx="250602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Comparison Methods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5714920" y="2697520"/>
            <a:ext cx="2732008" cy="3453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DBSCAN clustering (Kawtar et al.)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CLS-MMS mining (Subrata et al.)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Fuzzy association rules (Sanz et al.)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Privacy-preserving methods (Menon et al.)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Depth first + Breadth first</a:t>
            </a:r>
          </a:p>
          <a:p>
            <a:pPr algn="l">
              <a:lnSpc>
                <a:spcPts val="2500"/>
              </a:lnSpc>
              <a:buSzPct val="100000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 (Magdy et al.)</a:t>
            </a:r>
            <a:endParaRPr lang="en-US" sz="1550" dirty="0"/>
          </a:p>
        </p:txBody>
      </p:sp>
      <p:pic>
        <p:nvPicPr>
          <p:cNvPr id="10" name="Picture 2" descr="Facilities | Assam down town University">
            <a:extLst>
              <a:ext uri="{FF2B5EF4-FFF2-40B4-BE49-F238E27FC236}">
                <a16:creationId xmlns:a16="http://schemas.microsoft.com/office/drawing/2014/main" id="{C5391296-14D1-A4C0-92BD-37F4B068F7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2751" y="7580649"/>
            <a:ext cx="1737938" cy="57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3FD6B0D-0D09-B625-6A62-21C9E7E9A8ED}"/>
              </a:ext>
            </a:extLst>
          </p:cNvPr>
          <p:cNvSpPr txBox="1"/>
          <p:nvPr/>
        </p:nvSpPr>
        <p:spPr>
          <a:xfrm>
            <a:off x="10382385" y="2115916"/>
            <a:ext cx="4340185" cy="416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Shortcomings</a:t>
            </a:r>
            <a:endParaRPr lang="en-US" sz="28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9C7DE415-7C2D-6FC9-F778-0D275A7BE99F}"/>
              </a:ext>
            </a:extLst>
          </p:cNvPr>
          <p:cNvSpPr/>
          <p:nvPr/>
        </p:nvSpPr>
        <p:spPr>
          <a:xfrm>
            <a:off x="10551989" y="2697520"/>
            <a:ext cx="2732008" cy="4606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Efficiency is lower</a:t>
            </a:r>
          </a:p>
          <a:p>
            <a:pPr algn="l">
              <a:lnSpc>
                <a:spcPts val="2500"/>
              </a:lnSpc>
              <a:buSzPct val="100000"/>
            </a:pP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is lower</a:t>
            </a:r>
          </a:p>
          <a:p>
            <a:pPr algn="l">
              <a:lnSpc>
                <a:spcPts val="2500"/>
              </a:lnSpc>
              <a:buSzPct val="100000"/>
            </a:pP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is lower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Efficiency is lower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is lower</a:t>
            </a: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endParaRPr lang="en-US" sz="1550" dirty="0">
              <a:solidFill>
                <a:srgbClr val="15213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A608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Dataset is relatively small (15 e-books); scaling to millions of items and transactions is unproven.</a:t>
            </a:r>
            <a:endParaRPr lang="en-US" sz="15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5855"/>
            <a:ext cx="753701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Performance Evaluation Results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61947"/>
            <a:ext cx="41821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0.9896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1244203" y="3864917"/>
            <a:ext cx="328124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Average Pearson Coefficient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294138"/>
            <a:ext cx="41821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Indicates high mining accuracy, with values close to 1 showing strong correlation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223986" y="2961947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8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6020038" y="3864917"/>
            <a:ext cx="25902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Frequent Items Mined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223986" y="4294138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1.2% minimum support expectation, demonstrating effective pattern discovery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54302" y="2961947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123s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10405110" y="3864917"/>
            <a:ext cx="26806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Small Dataset Runtime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54302" y="4294138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Computational complexity of 123 seconds on small datasets with 45MB memory usage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15245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method consistently outperformed comparison methods across all evaluation metrics, particularly showing superior performance on large-scale datasets where computational complexity reached 867 seconds with 384MB memory usage while maintaining 8.0 runtime performance score.</a:t>
            </a:r>
            <a:endParaRPr lang="en-US" sz="1550" dirty="0"/>
          </a:p>
        </p:txBody>
      </p:sp>
      <p:pic>
        <p:nvPicPr>
          <p:cNvPr id="16" name="Picture 2" descr="Facilities | Assam down town University">
            <a:extLst>
              <a:ext uri="{FF2B5EF4-FFF2-40B4-BE49-F238E27FC236}">
                <a16:creationId xmlns:a16="http://schemas.microsoft.com/office/drawing/2014/main" id="{28DA6D20-7D01-4E22-6CC3-C7A99195D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2751" y="7580649"/>
            <a:ext cx="1737938" cy="57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5954" y="556334"/>
            <a:ext cx="817554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Applications and Future Directions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1694357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16943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E-Commerce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2123577"/>
            <a:ext cx="343804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user behavior across browsing, cart addition, and payment stages to optimize product recommendations and marketing strategies</a:t>
            </a:r>
            <a:endParaRPr lang="en-US" sz="15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3986" y="1694357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68127" y="16943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Network Security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5968127" y="2123577"/>
            <a:ext cx="34381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abnormal access patterns and detect potential network attacks through multi-stage behavior analysis</a:t>
            </a:r>
            <a:endParaRPr lang="en-US" sz="15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13417" y="1631260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398443" y="1616306"/>
            <a:ext cx="25590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Personalized Services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0398443" y="2045526"/>
            <a:ext cx="34381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 user experience through behavior pattern mining and optimized advertising strategies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793790" y="4033666"/>
            <a:ext cx="8612505" cy="45719"/>
          </a:xfrm>
          <a:prstGeom prst="rect">
            <a:avLst/>
          </a:prstGeom>
          <a:solidFill>
            <a:srgbClr val="15213F">
              <a:alpha val="50000"/>
            </a:srgbClr>
          </a:solidFill>
          <a:ln/>
        </p:spPr>
      </p:sp>
      <p:sp>
        <p:nvSpPr>
          <p:cNvPr id="13" name="Text 8"/>
          <p:cNvSpPr/>
          <p:nvPr/>
        </p:nvSpPr>
        <p:spPr>
          <a:xfrm>
            <a:off x="949907" y="4595633"/>
            <a:ext cx="3175040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Future Research Areas</a:t>
            </a:r>
            <a:endParaRPr lang="en-US" sz="2300" dirty="0"/>
          </a:p>
        </p:txBody>
      </p:sp>
      <p:sp>
        <p:nvSpPr>
          <p:cNvPr id="14" name="Text 9"/>
          <p:cNvSpPr/>
          <p:nvPr/>
        </p:nvSpPr>
        <p:spPr>
          <a:xfrm>
            <a:off x="764172" y="5168705"/>
            <a:ext cx="8919627" cy="1091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Algorithm Optimization: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Explore strategies to further improve large-scale data processing efficiency and accuracy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Technology Integration: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Combine association rules with clustering, classification, and other techniques for deeper analysis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 Applications:</a:t>
            </a:r>
            <a:r>
              <a:rPr lang="en-US" sz="15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Apply deep learning to parse multi-stage access data and reveal complex user behavior patterns</a:t>
            </a:r>
            <a:endParaRPr lang="en-US" sz="1550" dirty="0"/>
          </a:p>
        </p:txBody>
      </p:sp>
      <p:pic>
        <p:nvPicPr>
          <p:cNvPr id="15" name="Picture 2" descr="Facilities | Assam down town University">
            <a:extLst>
              <a:ext uri="{FF2B5EF4-FFF2-40B4-BE49-F238E27FC236}">
                <a16:creationId xmlns:a16="http://schemas.microsoft.com/office/drawing/2014/main" id="{47315CCD-72BA-366B-334E-75C4001C5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2751" y="7580649"/>
            <a:ext cx="1737938" cy="57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E6B8E5-3A6D-FBAE-B4A5-3F00B845A7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6295" y="4285952"/>
            <a:ext cx="4751914" cy="26835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Facilities | Assam down town University">
            <a:extLst>
              <a:ext uri="{FF2B5EF4-FFF2-40B4-BE49-F238E27FC236}">
                <a16:creationId xmlns:a16="http://schemas.microsoft.com/office/drawing/2014/main" id="{8875B594-B4C4-4ED2-0953-214C1C540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2751" y="7580649"/>
            <a:ext cx="1737938" cy="57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DC97FB5-35FC-8C3C-9666-75354997432C}"/>
              </a:ext>
            </a:extLst>
          </p:cNvPr>
          <p:cNvSpPr txBox="1"/>
          <p:nvPr/>
        </p:nvSpPr>
        <p:spPr>
          <a:xfrm>
            <a:off x="1405055" y="941612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REFERENCES</a:t>
            </a:r>
            <a:endParaRPr lang="en-IN" sz="4800" dirty="0">
              <a:solidFill>
                <a:srgbClr val="FFC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6095C9-241D-3EDB-54F5-12B5BBE984E7}"/>
              </a:ext>
            </a:extLst>
          </p:cNvPr>
          <p:cNvSpPr txBox="1"/>
          <p:nvPr/>
        </p:nvSpPr>
        <p:spPr>
          <a:xfrm>
            <a:off x="1405055" y="1809565"/>
            <a:ext cx="1099510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1. Lazzari F, Baldini W, Bassi G, </a:t>
            </a:r>
            <a:r>
              <a:rPr lang="en-US" sz="1400" dirty="0" err="1"/>
              <a:t>Contu</a:t>
            </a:r>
            <a:r>
              <a:rPr lang="en-US" sz="1400" dirty="0"/>
              <a:t> A, Dorigo M, </a:t>
            </a:r>
            <a:r>
              <a:rPr lang="en-US" sz="1400" dirty="0" err="1"/>
              <a:t>Fantechi</a:t>
            </a:r>
            <a:r>
              <a:rPr lang="en-US" sz="1400" dirty="0"/>
              <a:t> R., et al. </a:t>
            </a:r>
            <a:r>
              <a:rPr lang="en-US" sz="1400" dirty="0" err="1"/>
              <a:t>Fpga</a:t>
            </a:r>
            <a:r>
              <a:rPr lang="en-US" sz="1400" dirty="0"/>
              <a:t>-based real-time data processing for accelerating reconstruction at </a:t>
            </a:r>
            <a:r>
              <a:rPr lang="en-US" sz="1400" dirty="0" err="1"/>
              <a:t>lhcb</a:t>
            </a:r>
            <a:r>
              <a:rPr lang="en-US" sz="1400" dirty="0"/>
              <a:t>. J </a:t>
            </a:r>
            <a:r>
              <a:rPr lang="en-US" sz="1400" dirty="0" err="1"/>
              <a:t>Instrum</a:t>
            </a:r>
            <a:r>
              <a:rPr lang="en-US" sz="1400" dirty="0"/>
              <a:t>. 2022; 17(4): C04011.1–C04011.8. </a:t>
            </a:r>
          </a:p>
          <a:p>
            <a:pPr algn="just"/>
            <a:r>
              <a:rPr lang="en-US" sz="1400" dirty="0"/>
              <a:t>2. Ordentlich O, </a:t>
            </a:r>
            <a:r>
              <a:rPr lang="en-US" sz="1400" dirty="0" err="1"/>
              <a:t>Polyanskiy</a:t>
            </a:r>
            <a:r>
              <a:rPr lang="en-US" sz="1400" dirty="0"/>
              <a:t> Y. Strong data processing constant is achieved by binary inputs. IEEE Trans Inform Theory. 2022;68(3):1480–1. </a:t>
            </a:r>
          </a:p>
          <a:p>
            <a:pPr algn="just"/>
            <a:r>
              <a:rPr lang="en-US" sz="1400" dirty="0"/>
              <a:t>3. Khan S, Shaheen M. Wisdom mining: future of data mining. Rec Pat Eng. 2023;17(1):2–11. </a:t>
            </a:r>
          </a:p>
          <a:p>
            <a:pPr algn="just"/>
            <a:r>
              <a:rPr lang="en-IN" sz="1400" dirty="0"/>
              <a:t>4. Darmont J, Novikov B, </a:t>
            </a:r>
            <a:r>
              <a:rPr lang="en-IN" sz="1400" dirty="0" err="1"/>
              <a:t>Wrembel</a:t>
            </a:r>
            <a:r>
              <a:rPr lang="en-IN" sz="1400" dirty="0"/>
              <a:t> R, </a:t>
            </a:r>
            <a:r>
              <a:rPr lang="en-IN" sz="1400" dirty="0" err="1"/>
              <a:t>Bellatreche</a:t>
            </a:r>
            <a:r>
              <a:rPr lang="en-IN" sz="1400" dirty="0"/>
              <a:t> L. Data processing in modern distributed architectures. Inform Syst. 2022;104(Feb): 101936.1–101936.3. </a:t>
            </a:r>
          </a:p>
          <a:p>
            <a:pPr algn="just"/>
            <a:r>
              <a:rPr lang="en-US" sz="1400" dirty="0"/>
              <a:t>5. Yamamoto A, Tada K, </a:t>
            </a:r>
            <a:r>
              <a:rPr lang="en-US" sz="1400" dirty="0" err="1"/>
              <a:t>Chibat</a:t>
            </a:r>
            <a:r>
              <a:rPr lang="en-US" sz="1400" dirty="0"/>
              <a:t> G, Endo T. Verification of the multi-group generation capability of </a:t>
            </a:r>
            <a:r>
              <a:rPr lang="en-US" sz="1400" dirty="0" err="1"/>
              <a:t>frendy</a:t>
            </a:r>
            <a:r>
              <a:rPr lang="en-US" sz="1400" dirty="0"/>
              <a:t> nuclear data processing code for recent nuclear data through comparison of one-group reaction rates. Trans Am </a:t>
            </a:r>
            <a:r>
              <a:rPr lang="en-US" sz="1400" dirty="0" err="1"/>
              <a:t>Nucl</a:t>
            </a:r>
            <a:r>
              <a:rPr lang="en-US" sz="1400" dirty="0"/>
              <a:t> Soc. 2021;124:544–7. </a:t>
            </a:r>
          </a:p>
          <a:p>
            <a:pPr algn="just"/>
            <a:r>
              <a:rPr lang="en-IN" sz="1400" dirty="0"/>
              <a:t>6. </a:t>
            </a:r>
            <a:r>
              <a:rPr lang="en-IN" sz="1400" dirty="0" err="1"/>
              <a:t>Balynsky</a:t>
            </a:r>
            <a:r>
              <a:rPr lang="en-IN" sz="1400" dirty="0"/>
              <a:t> M, Chiang H, Gutierrez D, Kozhevnikov A, Filimonov Y, </a:t>
            </a:r>
            <a:r>
              <a:rPr lang="en-IN" sz="1400" dirty="0" err="1"/>
              <a:t>Khitun</a:t>
            </a:r>
            <a:r>
              <a:rPr lang="en-IN" sz="1400" dirty="0"/>
              <a:t> A. Quantum computing without quantum computers: database search and data processing using classical wave superposition. J Appl Phys. 2021;130(16): 164903.1–164903.12. </a:t>
            </a:r>
          </a:p>
          <a:p>
            <a:pPr algn="just"/>
            <a:r>
              <a:rPr lang="en-IN" sz="1400" dirty="0"/>
              <a:t>7. Kawtar S, Damien J, Roger G, Barthélémy Steck, Jean-Marie H, Louis A, et al. A data mining approach for improved interpretation of </a:t>
            </a:r>
            <a:r>
              <a:rPr lang="en-IN" sz="1400" dirty="0" err="1"/>
              <a:t>ert</a:t>
            </a:r>
            <a:r>
              <a:rPr lang="en-IN" sz="1400" dirty="0"/>
              <a:t> inverted sections using the </a:t>
            </a:r>
            <a:r>
              <a:rPr lang="en-IN" sz="1400" dirty="0" err="1"/>
              <a:t>dbscan</a:t>
            </a:r>
            <a:r>
              <a:rPr lang="en-IN" sz="1400" dirty="0"/>
              <a:t> clustering algorithm. </a:t>
            </a:r>
            <a:r>
              <a:rPr lang="en-IN" sz="1400" dirty="0" err="1"/>
              <a:t>Geophys</a:t>
            </a:r>
            <a:r>
              <a:rPr lang="en-IN" sz="1400" dirty="0"/>
              <a:t> J Intern. 2021;225(2):1304–18. </a:t>
            </a:r>
          </a:p>
          <a:p>
            <a:pPr algn="just"/>
            <a:r>
              <a:rPr lang="en-US" sz="1400" dirty="0"/>
              <a:t>8. Datta S, Mali K, Ghosh U, Bose S, Ghosh S. Rare correlated coherent association rule mining with CLS-MMS. </a:t>
            </a:r>
            <a:r>
              <a:rPr lang="en-US" sz="1400" dirty="0" err="1"/>
              <a:t>Comput</a:t>
            </a:r>
            <a:r>
              <a:rPr lang="en-US" sz="1400" dirty="0"/>
              <a:t> J. 2023;66(2):342–59. </a:t>
            </a:r>
          </a:p>
          <a:p>
            <a:pPr algn="just"/>
            <a:r>
              <a:rPr lang="en-US" sz="1400" dirty="0"/>
              <a:t>9. Sanz J, Sesma-Sara M, </a:t>
            </a:r>
            <a:r>
              <a:rPr lang="en-US" sz="1400" dirty="0" err="1"/>
              <a:t>Bustince</a:t>
            </a:r>
            <a:r>
              <a:rPr lang="en-US" sz="1400" dirty="0"/>
              <a:t> H. A fuzzy association rule-based classifier for imbalanced classification problems. Inform Sci. 2021;577(4):265–79. </a:t>
            </a:r>
          </a:p>
          <a:p>
            <a:pPr algn="just"/>
            <a:r>
              <a:rPr lang="en-US" sz="1400" dirty="0"/>
              <a:t>10. Menon S, Ghoshal A, Sarkar S. Modifying transactional databases to hide sensitive association rules. Inform Syst Res. 2022;33(1):152–78. </a:t>
            </a:r>
          </a:p>
          <a:p>
            <a:pPr algn="just"/>
            <a:r>
              <a:rPr lang="en-IN" sz="1400" dirty="0"/>
              <a:t>11. Magdy M, Ghaleb FFM, Mohamed DAEA, Zakaria W. Cc-</a:t>
            </a:r>
            <a:r>
              <a:rPr lang="en-IN" sz="1400" dirty="0" err="1"/>
              <a:t>ifim</a:t>
            </a:r>
            <a:r>
              <a:rPr lang="en-IN" sz="1400" dirty="0"/>
              <a:t>: an efficient approach for incremental frequent itemset mining based on closed candidates. J </a:t>
            </a:r>
            <a:r>
              <a:rPr lang="en-IN" sz="1400" dirty="0" err="1"/>
              <a:t>Supercomput</a:t>
            </a:r>
            <a:r>
              <a:rPr lang="en-IN" sz="1400" dirty="0"/>
              <a:t>. 2023;79(7):7877–99. </a:t>
            </a:r>
          </a:p>
          <a:p>
            <a:pPr algn="just"/>
            <a:r>
              <a:rPr lang="en-US" sz="1400" dirty="0"/>
              <a:t>12. Wang PP, Meng Y. Simulation of mining frequent pattern association rules of multi-segment support data. </a:t>
            </a:r>
            <a:r>
              <a:rPr lang="en-US" sz="1400" dirty="0" err="1"/>
              <a:t>Comput</a:t>
            </a:r>
            <a:r>
              <a:rPr lang="en-US" sz="1400" dirty="0"/>
              <a:t> Simul. 2021;38(5):282–6. </a:t>
            </a:r>
          </a:p>
          <a:p>
            <a:pPr algn="just"/>
            <a:r>
              <a:rPr lang="en-US" sz="1400" dirty="0"/>
              <a:t>13. Logeswaran K, Suresh P. High utility itemset mining using genetic algorithm assimilated with off policy reinforcement learning to adaptively calibrate crossover operation. </a:t>
            </a:r>
            <a:r>
              <a:rPr lang="en-US" sz="1400" dirty="0" err="1"/>
              <a:t>Comput</a:t>
            </a:r>
            <a:r>
              <a:rPr lang="en-US" sz="1400" dirty="0"/>
              <a:t> </a:t>
            </a:r>
            <a:r>
              <a:rPr lang="en-US" sz="1400" dirty="0" err="1"/>
              <a:t>Intell</a:t>
            </a:r>
            <a:r>
              <a:rPr lang="en-US" sz="1400" dirty="0"/>
              <a:t>. 2021;38(5):1596–615. </a:t>
            </a:r>
          </a:p>
          <a:p>
            <a:pPr algn="just"/>
            <a:r>
              <a:rPr lang="en-IN" sz="1400" dirty="0"/>
              <a:t>14. </a:t>
            </a:r>
            <a:r>
              <a:rPr lang="en-IN" sz="1400" dirty="0" err="1"/>
              <a:t>Aryabarzan</a:t>
            </a:r>
            <a:r>
              <a:rPr lang="en-IN" sz="1400" dirty="0"/>
              <a:t> N, Minaei-Bidgoli B. </a:t>
            </a:r>
            <a:r>
              <a:rPr lang="en-IN" sz="1400" dirty="0" err="1"/>
              <a:t>Neclatclosed</a:t>
            </a:r>
            <a:r>
              <a:rPr lang="en-IN" sz="1400" dirty="0"/>
              <a:t>: a vertical algorithm for mining frequent closed </a:t>
            </a:r>
            <a:r>
              <a:rPr lang="en-IN" sz="1400" dirty="0" err="1"/>
              <a:t>itemsets</a:t>
            </a:r>
            <a:r>
              <a:rPr lang="en-IN" sz="1400" dirty="0"/>
              <a:t>. Exp </a:t>
            </a:r>
            <a:r>
              <a:rPr lang="en-IN" sz="1400" dirty="0" err="1"/>
              <a:t>Syst</a:t>
            </a:r>
            <a:r>
              <a:rPr lang="en-IN" sz="1400" dirty="0"/>
              <a:t> Appl. 2021;174(Jul.): 114738.1–114738.11. </a:t>
            </a:r>
          </a:p>
          <a:p>
            <a:pPr algn="just"/>
            <a:r>
              <a:rPr lang="en-IN" sz="1400" dirty="0"/>
              <a:t>15. Luna JM, Fournier-Viger P, Ventura S. Frequent itemset mining: a 25 years review. Wiley </a:t>
            </a:r>
            <a:r>
              <a:rPr lang="en-IN" sz="1400" dirty="0" err="1"/>
              <a:t>Interdiscip</a:t>
            </a:r>
            <a:r>
              <a:rPr lang="en-IN" sz="1400" dirty="0"/>
              <a:t> Rev Data Min </a:t>
            </a:r>
            <a:r>
              <a:rPr lang="en-IN" sz="1400" dirty="0" err="1"/>
              <a:t>Knowl</a:t>
            </a:r>
            <a:r>
              <a:rPr lang="en-IN" sz="1400" dirty="0"/>
              <a:t> </a:t>
            </a:r>
            <a:r>
              <a:rPr lang="en-IN" sz="1400" dirty="0" err="1"/>
              <a:t>Discov</a:t>
            </a:r>
            <a:r>
              <a:rPr lang="en-IN" sz="1400" dirty="0"/>
              <a:t>. 2019;9(6): e1329. </a:t>
            </a:r>
          </a:p>
          <a:p>
            <a:pPr algn="just"/>
            <a:r>
              <a:rPr lang="en-IN" sz="1400" dirty="0"/>
              <a:t>16. </a:t>
            </a:r>
            <a:r>
              <a:rPr lang="en-IN" sz="1400" dirty="0" err="1"/>
              <a:t>Trasierras</a:t>
            </a:r>
            <a:r>
              <a:rPr lang="en-IN" sz="1400" dirty="0"/>
              <a:t> AM, Luna JM, Fournier-Viger P, Ventura S. Data heterogeneity’s impact on the performance of frequent itemset </a:t>
            </a:r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A85A3453-373E-3252-74A5-4FF18402D3B0}"/>
              </a:ext>
            </a:extLst>
          </p:cNvPr>
          <p:cNvSpPr/>
          <p:nvPr/>
        </p:nvSpPr>
        <p:spPr>
          <a:xfrm>
            <a:off x="1226635" y="941612"/>
            <a:ext cx="4572000" cy="411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6" name="Shape 4">
            <a:extLst>
              <a:ext uri="{FF2B5EF4-FFF2-40B4-BE49-F238E27FC236}">
                <a16:creationId xmlns:a16="http://schemas.microsoft.com/office/drawing/2014/main" id="{9509C2C0-415A-F5F3-3D57-33A2D64E0187}"/>
              </a:ext>
            </a:extLst>
          </p:cNvPr>
          <p:cNvSpPr/>
          <p:nvPr/>
        </p:nvSpPr>
        <p:spPr>
          <a:xfrm>
            <a:off x="1226635" y="1648206"/>
            <a:ext cx="4572000" cy="411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Facilities | Assam down town University">
            <a:extLst>
              <a:ext uri="{FF2B5EF4-FFF2-40B4-BE49-F238E27FC236}">
                <a16:creationId xmlns:a16="http://schemas.microsoft.com/office/drawing/2014/main" id="{B6E517E9-6C1B-AFA0-0E5B-D9F4D015E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12751" y="7580649"/>
            <a:ext cx="1737938" cy="575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AADCE22-F3E6-6359-9EE7-2B80D7B35FAA}"/>
              </a:ext>
            </a:extLst>
          </p:cNvPr>
          <p:cNvSpPr txBox="1"/>
          <p:nvPr/>
        </p:nvSpPr>
        <p:spPr>
          <a:xfrm>
            <a:off x="4126240" y="1112520"/>
            <a:ext cx="95554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THANK YOU</a:t>
            </a:r>
            <a:endParaRPr lang="en-IN" sz="960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EC659BED-18E7-A834-2EC0-A935033736CE}"/>
              </a:ext>
            </a:extLst>
          </p:cNvPr>
          <p:cNvSpPr/>
          <p:nvPr/>
        </p:nvSpPr>
        <p:spPr>
          <a:xfrm>
            <a:off x="1753564" y="2636634"/>
            <a:ext cx="4572000" cy="411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37CAB6E9-67A3-AEA6-357B-858D1DCE8F6D}"/>
              </a:ext>
            </a:extLst>
          </p:cNvPr>
          <p:cNvSpPr/>
          <p:nvPr/>
        </p:nvSpPr>
        <p:spPr>
          <a:xfrm>
            <a:off x="5029200" y="2841292"/>
            <a:ext cx="4572000" cy="411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8EA0A97A-7878-6DEB-B4FF-DC447E15702B}"/>
              </a:ext>
            </a:extLst>
          </p:cNvPr>
          <p:cNvSpPr/>
          <p:nvPr/>
        </p:nvSpPr>
        <p:spPr>
          <a:xfrm>
            <a:off x="8353063" y="3044471"/>
            <a:ext cx="4572000" cy="4114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395EAE36-7BE1-EE42-D4D3-A62F470A55ED}"/>
              </a:ext>
            </a:extLst>
          </p:cNvPr>
          <p:cNvSpPr/>
          <p:nvPr/>
        </p:nvSpPr>
        <p:spPr>
          <a:xfrm>
            <a:off x="2503179" y="3492515"/>
            <a:ext cx="8681493" cy="40881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1000"/>
              </a:spcAft>
              <a:buNone/>
            </a:pPr>
            <a:r>
              <a:rPr lang="en-US" sz="2800" b="1" dirty="0">
                <a:solidFill>
                  <a:srgbClr val="E8A838"/>
                </a:solidFill>
              </a:rPr>
              <a:t>①  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Proposed an improved Apriori algorithm using Boolean matrices and K-Means clustering</a:t>
            </a:r>
            <a:r>
              <a:rPr lang="en-US" sz="2800" b="1" dirty="0">
                <a:solidFill>
                  <a:srgbClr val="AECDE0"/>
                </a:solidFill>
              </a:rPr>
              <a:t>
</a:t>
            </a:r>
            <a:r>
              <a:rPr lang="en-US" sz="2800" b="1" dirty="0">
                <a:solidFill>
                  <a:srgbClr val="E8A838"/>
                </a:solidFill>
              </a:rPr>
              <a:t>②  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Introduced weighted support to handle real-world item importance differences</a:t>
            </a:r>
            <a:r>
              <a:rPr lang="en-US" sz="2800" b="1" dirty="0">
                <a:solidFill>
                  <a:srgbClr val="AECDE0"/>
                </a:solidFill>
              </a:rPr>
              <a:t>
</a:t>
            </a:r>
            <a:r>
              <a:rPr lang="en-US" sz="2800" b="1" dirty="0">
                <a:solidFill>
                  <a:srgbClr val="E8A838"/>
                </a:solidFill>
              </a:rPr>
              <a:t>③  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Single database scan — directly generates frequent itemsets without candidates</a:t>
            </a:r>
            <a:r>
              <a:rPr lang="en-US" sz="2800" b="1" dirty="0">
                <a:solidFill>
                  <a:srgbClr val="AECDE0"/>
                </a:solidFill>
              </a:rPr>
              <a:t>
</a:t>
            </a:r>
            <a:r>
              <a:rPr lang="en-US" sz="2800" b="1" dirty="0">
                <a:solidFill>
                  <a:srgbClr val="E8A838"/>
                </a:solidFill>
              </a:rPr>
              <a:t>④  </a:t>
            </a:r>
            <a:r>
              <a:rPr lang="en-US" sz="2800" b="1" dirty="0">
                <a:solidFill>
                  <a:schemeClr val="accent3">
                    <a:lumMod val="50000"/>
                  </a:schemeClr>
                </a:solidFill>
              </a:rPr>
              <a:t>Achieved average Pearson coefficient of 0.9896 — highest among 6 compared methods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249</TotalTime>
  <Words>1313</Words>
  <Application>Microsoft Office PowerPoint</Application>
  <PresentationFormat>Custom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Roboto Slab</vt:lpstr>
      <vt:lpstr>Roboto</vt:lpstr>
      <vt:lpstr>Corbel</vt:lpstr>
      <vt:lpstr>Bahnschrift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lastModifiedBy>Ph. Angamba Singha</cp:lastModifiedBy>
  <cp:revision>5</cp:revision>
  <dcterms:created xsi:type="dcterms:W3CDTF">2026-03-26T08:03:54Z</dcterms:created>
  <dcterms:modified xsi:type="dcterms:W3CDTF">2026-03-27T06:36:12Z</dcterms:modified>
</cp:coreProperties>
</file>